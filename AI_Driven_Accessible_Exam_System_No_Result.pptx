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7553325" cy="106870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3959" cy="1068705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28650" y="1076960"/>
          <a:ext cx="280669" cy="279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669"/>
              </a:tblGrid>
              <a:tr h="279400">
                <a:tc>
                  <a:txBody>
                    <a:bodyPr/>
                    <a:lstStyle/>
                    <a:p>
                      <a:pPr>
                        <a:lnSpc>
                          <a:spcPts val="2182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2539" cap="flat" cmpd="sng" algn="ctr">
                      <a:solidFill>
                        <a:srgbClr val="888888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2222" cap="flat" cmpd="sng" algn="ctr">
                      <a:solidFill>
                        <a:srgbClr val="88888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43370" y="1076960"/>
          <a:ext cx="280670" cy="279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670"/>
              </a:tblGrid>
              <a:tr h="279400">
                <a:tc>
                  <a:txBody>
                    <a:bodyPr/>
                    <a:lstStyle/>
                    <a:p>
                      <a:pPr>
                        <a:lnSpc>
                          <a:spcPts val="2182"/>
                        </a:lnSpc>
                      </a:pPr>
                    </a:p>
                  </a:txBody>
                  <a:tcPr marL="0" marR="0" marT="0" marB="0" vert="horz">
                    <a:lnL w="2222" cap="flat" cmpd="sng" algn="ctr">
                      <a:solidFill>
                        <a:srgbClr val="888888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2222" cap="flat" cmpd="sng" algn="ctr">
                      <a:solidFill>
                        <a:srgbClr val="88888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1393190"/>
            <a:ext cx="519938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8" sz="1800">
                <a:solidFill>
                  <a:srgbClr val="000000"/>
                </a:solidFill>
                <a:latin typeface="Noto Serif"/>
              </a:rPr>
              <a:t>AI Driven Accessible Examination and Assessment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68780"/>
            <a:ext cx="1158239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3" sz="1800">
                <a:solidFill>
                  <a:srgbClr val="000000"/>
                </a:solidFill>
                <a:latin typeface="Noto Serif"/>
              </a:rPr>
              <a:t>System for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992630"/>
            <a:ext cx="270129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6" sz="1800">
                <a:solidFill>
                  <a:srgbClr val="000000"/>
                </a:solidFill>
                <a:latin typeface="Noto Serif"/>
              </a:rPr>
              <a:t>Visually Impaired Students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78430"/>
            <a:ext cx="10287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4" sz="1200">
                <a:solidFill>
                  <a:srgbClr val="000000"/>
                </a:solidFill>
                <a:latin typeface="Noto Serif"/>
              </a:rPr>
              <a:t>BY: SHREIYA.D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42640"/>
            <a:ext cx="756919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6" sz="1600">
                <a:solidFill>
                  <a:srgbClr val="000000"/>
                </a:solidFill>
                <a:latin typeface="Noto Serif"/>
              </a:rPr>
              <a:t>Abstract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04590"/>
            <a:ext cx="497205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0" sz="1600">
                <a:solidFill>
                  <a:srgbClr val="000000"/>
                </a:solidFill>
                <a:latin typeface="Noto Serif"/>
              </a:rPr>
              <a:t>Traditional online exams are not accessible for visually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71290"/>
            <a:ext cx="577977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2" sz="1600">
                <a:solidFill>
                  <a:srgbClr val="000000"/>
                </a:solidFill>
                <a:latin typeface="Noto Serif"/>
              </a:rPr>
              <a:t>impaired students as they depend on reading and mouse clicks.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37990"/>
            <a:ext cx="529844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4" sz="1600">
                <a:solidFill>
                  <a:srgbClr val="000000"/>
                </a:solidFill>
                <a:latin typeface="Noto Serif"/>
              </a:rPr>
              <a:t>This project proposes an AI-driven accessible examination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04690"/>
            <a:ext cx="561594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4" sz="1600">
                <a:solidFill>
                  <a:srgbClr val="000000"/>
                </a:solidFill>
                <a:latin typeface="Noto Serif"/>
              </a:rPr>
              <a:t>system using Text-to-Speech (TTS), Speech-to-Text (STT), and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71390"/>
            <a:ext cx="531368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3" sz="1600">
                <a:solidFill>
                  <a:srgbClr val="000000"/>
                </a:solidFill>
                <a:latin typeface="Noto Serif"/>
              </a:rPr>
              <a:t>NLP voice commands. Admin uploads question paper PDF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38090"/>
            <a:ext cx="521208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9" sz="1600">
                <a:solidFill>
                  <a:srgbClr val="000000"/>
                </a:solidFill>
                <a:latin typeface="Noto Serif"/>
              </a:rPr>
              <a:t>which is auto-extracted using AI .Students login via voice-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04790"/>
            <a:ext cx="5833109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4" sz="1600">
                <a:solidFill>
                  <a:srgbClr val="000000"/>
                </a:solidFill>
                <a:latin typeface="Noto Serif"/>
              </a:rPr>
              <a:t>enabled authentication (Name + Reg No with STT/TTS) and take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71490"/>
            <a:ext cx="513334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6" sz="1600">
                <a:solidFill>
                  <a:srgbClr val="000000"/>
                </a:solidFill>
                <a:latin typeface="Noto Serif"/>
              </a:rPr>
              <a:t>the exam completely by voice - questions are read aloud,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38190"/>
            <a:ext cx="556387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4" sz="1600">
                <a:solidFill>
                  <a:srgbClr val="000000"/>
                </a:solidFill>
                <a:latin typeface="Noto Serif"/>
              </a:rPr>
              <a:t>answers are spoken as "Option A", navigation by saying "Next,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104890"/>
            <a:ext cx="557276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1" sz="1600">
                <a:solidFill>
                  <a:srgbClr val="000000"/>
                </a:solidFill>
                <a:latin typeface="Noto Serif"/>
              </a:rPr>
              <a:t>Previous, Repeat, Submit". System also has keyboard fallback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371590"/>
            <a:ext cx="538734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1" sz="1600">
                <a:solidFill>
                  <a:srgbClr val="000000"/>
                </a:solidFill>
                <a:latin typeface="Noto Serif"/>
              </a:rPr>
              <a:t>ensuring 100% inclusivity. No external hardware is required 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7457440"/>
            <a:ext cx="115443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2" sz="1600">
                <a:solidFill>
                  <a:srgbClr val="000000"/>
                </a:solidFill>
                <a:latin typeface="Noto Serif"/>
              </a:rPr>
              <a:t> Introduction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7819390"/>
            <a:ext cx="526415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8" sz="1600">
                <a:solidFill>
                  <a:srgbClr val="000000"/>
                </a:solidFill>
                <a:latin typeface="Noto Serif"/>
              </a:rPr>
              <a:t>Education must be inclusive. 2.2 billion people have vision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8086090"/>
            <a:ext cx="554101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7" sz="1600">
                <a:solidFill>
                  <a:srgbClr val="000000"/>
                </a:solidFill>
                <a:latin typeface="Noto Serif"/>
              </a:rPr>
              <a:t>impairment globally. Current exam portals like Google Forms,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8352790"/>
            <a:ext cx="558165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3" sz="1600">
                <a:solidFill>
                  <a:srgbClr val="000000"/>
                </a:solidFill>
                <a:latin typeface="Noto Serif"/>
              </a:rPr>
              <a:t>Moodle fail for blind students. Our system bridges this gap by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8619490"/>
            <a:ext cx="548132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1" sz="1600">
                <a:solidFill>
                  <a:srgbClr val="000000"/>
                </a:solidFill>
                <a:latin typeface="Noto Serif"/>
              </a:rPr>
              <a:t>making the entire exam flow hands-free and ear-driven using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8886190"/>
            <a:ext cx="551815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4" sz="1600">
                <a:solidFill>
                  <a:srgbClr val="000000"/>
                </a:solidFill>
                <a:latin typeface="Noto Serif"/>
              </a:rPr>
              <a:t>Web Speech API and AI PDF parsing. Developed with React +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9152890"/>
            <a:ext cx="775969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4" sz="1600">
                <a:solidFill>
                  <a:srgbClr val="000000"/>
                </a:solidFill>
                <a:latin typeface="Noto Serif"/>
              </a:rPr>
              <a:t>Fast API. 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28650" y="9777730"/>
          <a:ext cx="280669" cy="2806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669"/>
              </a:tblGrid>
              <a:tr h="280670">
                <a:tc>
                  <a:txBody>
                    <a:bodyPr/>
                    <a:lstStyle/>
                    <a:p>
                      <a:pPr>
                        <a:lnSpc>
                          <a:spcPts val="2192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2539" cap="flat" cmpd="sng" algn="ctr">
                      <a:solidFill>
                        <a:srgbClr val="888888">
                          <a:alpha val="100000"/>
                        </a:srgbClr>
                      </a:solidFill>
                    </a:lnR>
                    <a:lnT w="2222" cap="flat" cmpd="sng" algn="ctr">
                      <a:solidFill>
                        <a:srgbClr val="888888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6643370" y="9777730"/>
          <a:ext cx="280670" cy="2679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670"/>
              </a:tblGrid>
              <a:tr h="267970">
                <a:tc>
                  <a:txBody>
                    <a:bodyPr/>
                    <a:lstStyle/>
                    <a:p>
                      <a:pPr>
                        <a:lnSpc>
                          <a:spcPts val="2192"/>
                        </a:lnSpc>
                      </a:pPr>
                    </a:p>
                  </a:txBody>
                  <a:tcPr marL="0" marR="0" marT="0" marB="0" vert="horz">
                    <a:lnL w="2222" cap="flat" cmpd="sng" algn="ctr">
                      <a:solidFill>
                        <a:srgbClr val="888888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2222" cap="flat" cmpd="sng" algn="ctr">
                      <a:solidFill>
                        <a:srgbClr val="888888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3959" cy="1068705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28650" y="1076960"/>
          <a:ext cx="280669" cy="279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669"/>
              </a:tblGrid>
              <a:tr h="279400">
                <a:tc>
                  <a:txBody>
                    <a:bodyPr/>
                    <a:lstStyle/>
                    <a:p>
                      <a:pPr>
                        <a:lnSpc>
                          <a:spcPts val="2182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2539" cap="flat" cmpd="sng" algn="ctr">
                      <a:solidFill>
                        <a:srgbClr val="888888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2222" cap="flat" cmpd="sng" algn="ctr">
                      <a:solidFill>
                        <a:srgbClr val="88888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43370" y="1076960"/>
          <a:ext cx="280670" cy="279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670"/>
              </a:tblGrid>
              <a:tr h="279400">
                <a:tc>
                  <a:txBody>
                    <a:bodyPr/>
                    <a:lstStyle/>
                    <a:p>
                      <a:pPr>
                        <a:lnSpc>
                          <a:spcPts val="2182"/>
                        </a:lnSpc>
                      </a:pPr>
                    </a:p>
                  </a:txBody>
                  <a:tcPr marL="0" marR="0" marT="0" marB="0" vert="horz">
                    <a:lnL w="2222" cap="flat" cmpd="sng" algn="ctr">
                      <a:solidFill>
                        <a:srgbClr val="888888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2222" cap="flat" cmpd="sng" algn="ctr">
                      <a:solidFill>
                        <a:srgbClr val="88888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1399540"/>
            <a:ext cx="84836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9" sz="1600">
                <a:solidFill>
                  <a:srgbClr val="000000"/>
                </a:solidFill>
                <a:latin typeface="Noto Serif"/>
              </a:rPr>
              <a:t>Objective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61489"/>
            <a:ext cx="138303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4" sz="1600">
                <a:solidFill>
                  <a:srgbClr val="000000"/>
                </a:solidFill>
                <a:latin typeface="Noto Serif"/>
              </a:rPr>
              <a:t>Main Objective: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23440"/>
            <a:ext cx="561975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8" sz="1600">
                <a:solidFill>
                  <a:srgbClr val="000000"/>
                </a:solidFill>
                <a:latin typeface="Noto Serif"/>
              </a:rPr>
              <a:t>To develop a fully inclusive, AI-driven examination system that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90140"/>
            <a:ext cx="477774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3" sz="1600">
                <a:solidFill>
                  <a:srgbClr val="000000"/>
                </a:solidFill>
                <a:latin typeface="Noto Serif"/>
              </a:rPr>
              <a:t>empowers visually impaired students to write exams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6840"/>
            <a:ext cx="282956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3" sz="1600">
                <a:solidFill>
                  <a:srgbClr val="000000"/>
                </a:solidFill>
                <a:latin typeface="Noto Serif"/>
              </a:rPr>
              <a:t>independently without a scribe.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8790"/>
            <a:ext cx="140716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5" sz="1600">
                <a:solidFill>
                  <a:srgbClr val="000000"/>
                </a:solidFill>
                <a:latin typeface="Noto Serif"/>
              </a:rPr>
              <a:t>Sub-Objectives: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0740"/>
            <a:ext cx="255524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7" sz="1600">
                <a:solidFill>
                  <a:srgbClr val="000000"/>
                </a:solidFill>
                <a:latin typeface="Noto Serif"/>
              </a:rPr>
              <a:t>1. Voice-Based Secure Login: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2690"/>
            <a:ext cx="565023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9" sz="1600">
                <a:solidFill>
                  <a:srgbClr val="000000"/>
                </a:solidFill>
                <a:latin typeface="Noto Serif"/>
              </a:rPr>
              <a:t>To provide voice-based authentication for blind students using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09390"/>
            <a:ext cx="534289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4" sz="1600">
                <a:solidFill>
                  <a:srgbClr val="000000"/>
                </a:solidFill>
                <a:latin typeface="Noto Serif"/>
              </a:rPr>
              <a:t>Name and Registration Number. System will use Speech-to-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76090"/>
            <a:ext cx="573024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4" sz="1600">
                <a:solidFill>
                  <a:srgbClr val="000000"/>
                </a:solidFill>
                <a:latin typeface="Noto Serif"/>
              </a:rPr>
              <a:t>Text (STT) to capture spoken input and Text-to-Speech (TTS) to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42790"/>
            <a:ext cx="486664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6" sz="1600">
                <a:solidFill>
                  <a:srgbClr val="000000"/>
                </a:solidFill>
                <a:latin typeface="Noto Serif"/>
              </a:rPr>
              <a:t>give audio guidance like "Please say your Registration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09490"/>
            <a:ext cx="533146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7" sz="1600">
                <a:solidFill>
                  <a:srgbClr val="000000"/>
                </a:solidFill>
                <a:latin typeface="Noto Serif"/>
              </a:rPr>
              <a:t>Number". This ensures login without needing to see or type.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71440"/>
            <a:ext cx="407670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5" sz="1600">
                <a:solidFill>
                  <a:srgbClr val="000000"/>
                </a:solidFill>
                <a:latin typeface="Noto Serif"/>
              </a:rPr>
              <a:t>2. AI Automation for Question Paper Creation: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533390"/>
            <a:ext cx="535178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0" sz="1600">
                <a:solidFill>
                  <a:srgbClr val="000000"/>
                </a:solidFill>
                <a:latin typeface="Noto Serif"/>
              </a:rPr>
              <a:t>To automate question paper creation via AI PDF extraction.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800090"/>
            <a:ext cx="492379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8" sz="1600">
                <a:solidFill>
                  <a:srgbClr val="000000"/>
                </a:solidFill>
                <a:latin typeface="Noto Serif"/>
              </a:rPr>
              <a:t>Admin uploads any PDF question paper, backend uses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066790"/>
            <a:ext cx="543941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8" sz="1600">
                <a:solidFill>
                  <a:srgbClr val="000000"/>
                </a:solidFill>
                <a:latin typeface="Noto Serif"/>
              </a:rPr>
              <a:t>PyMuPDF and AI parsing to automatically extract questions,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333490"/>
            <a:ext cx="579755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5" sz="1600">
                <a:solidFill>
                  <a:srgbClr val="000000"/>
                </a:solidFill>
                <a:latin typeface="Noto Serif"/>
              </a:rPr>
              <a:t>options (A, B, C, D), and correct answers and stores in database.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600190"/>
            <a:ext cx="281051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7" sz="1600">
                <a:solidFill>
                  <a:srgbClr val="000000"/>
                </a:solidFill>
                <a:latin typeface="Noto Serif"/>
              </a:rPr>
              <a:t>Saves 90% manual typing time.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962140"/>
            <a:ext cx="336550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6" sz="1600">
                <a:solidFill>
                  <a:srgbClr val="000000"/>
                </a:solidFill>
                <a:latin typeface="Noto Serif"/>
              </a:rPr>
              <a:t>3. Complete Hands-Free Examination: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7324090"/>
            <a:ext cx="526034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3" sz="1600">
                <a:solidFill>
                  <a:srgbClr val="000000"/>
                </a:solidFill>
                <a:latin typeface="Noto Serif"/>
              </a:rPr>
              <a:t>To conduct complete exam using only voice. TTS will read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7590790"/>
            <a:ext cx="541528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6" sz="1600">
                <a:solidFill>
                  <a:srgbClr val="000000"/>
                </a:solidFill>
                <a:latin typeface="Noto Serif"/>
              </a:rPr>
              <a:t>questions and options aloud automatically. STT will capture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7857490"/>
            <a:ext cx="564769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8" sz="1600">
                <a:solidFill>
                  <a:srgbClr val="000000"/>
                </a:solidFill>
                <a:latin typeface="Noto Serif"/>
              </a:rPr>
              <a:t>student answers when student says "Option A", "Option B", etc.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8124190"/>
            <a:ext cx="285369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9" sz="1600">
                <a:solidFill>
                  <a:srgbClr val="000000"/>
                </a:solidFill>
                <a:latin typeface="Noto Serif"/>
              </a:rPr>
              <a:t>No mouse, no keyboard needed.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8486140"/>
            <a:ext cx="339090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6" sz="1600">
                <a:solidFill>
                  <a:srgbClr val="000000"/>
                </a:solidFill>
                <a:latin typeface="Noto Serif"/>
              </a:rPr>
              <a:t>4. NLP-Based Smart Voice Navigation: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8848090"/>
            <a:ext cx="562864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5" sz="1600">
                <a:solidFill>
                  <a:srgbClr val="000000"/>
                </a:solidFill>
                <a:latin typeface="Noto Serif"/>
              </a:rPr>
              <a:t>To implement NLP commands for navigation. Student can say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9114790"/>
            <a:ext cx="546100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4" sz="1600">
                <a:solidFill>
                  <a:srgbClr val="000000"/>
                </a:solidFill>
                <a:latin typeface="Noto Serif"/>
              </a:rPr>
              <a:t>"Next" to go next question, "Previous" to go back, "Repeat" to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9381490"/>
            <a:ext cx="514604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2" sz="1600">
                <a:solidFill>
                  <a:srgbClr val="000000"/>
                </a:solidFill>
                <a:latin typeface="Noto Serif"/>
              </a:rPr>
              <a:t>hear question again, and "Submit" to finish exam. System 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628650" y="9777730"/>
          <a:ext cx="280669" cy="2806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669"/>
              </a:tblGrid>
              <a:tr h="280670">
                <a:tc>
                  <a:txBody>
                    <a:bodyPr/>
                    <a:lstStyle/>
                    <a:p>
                      <a:pPr>
                        <a:lnSpc>
                          <a:spcPts val="2192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2539" cap="flat" cmpd="sng" algn="ctr">
                      <a:solidFill>
                        <a:srgbClr val="888888">
                          <a:alpha val="100000"/>
                        </a:srgbClr>
                      </a:solidFill>
                    </a:lnR>
                    <a:lnT w="2222" cap="flat" cmpd="sng" algn="ctr">
                      <a:solidFill>
                        <a:srgbClr val="888888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6643370" y="9777730"/>
          <a:ext cx="280670" cy="2679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670"/>
              </a:tblGrid>
              <a:tr h="267970">
                <a:tc>
                  <a:txBody>
                    <a:bodyPr/>
                    <a:lstStyle/>
                    <a:p>
                      <a:pPr>
                        <a:lnSpc>
                          <a:spcPts val="2192"/>
                        </a:lnSpc>
                      </a:pPr>
                    </a:p>
                  </a:txBody>
                  <a:tcPr marL="0" marR="0" marT="0" marB="0" vert="horz">
                    <a:lnL w="2222" cap="flat" cmpd="sng" algn="ctr">
                      <a:solidFill>
                        <a:srgbClr val="888888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2222" cap="flat" cmpd="sng" algn="ctr">
                      <a:solidFill>
                        <a:srgbClr val="888888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3959" cy="1068705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28650" y="1076960"/>
          <a:ext cx="280669" cy="279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669"/>
              </a:tblGrid>
              <a:tr h="279400">
                <a:tc>
                  <a:txBody>
                    <a:bodyPr/>
                    <a:lstStyle/>
                    <a:p>
                      <a:pPr>
                        <a:lnSpc>
                          <a:spcPts val="2182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2539" cap="flat" cmpd="sng" algn="ctr">
                      <a:solidFill>
                        <a:srgbClr val="888888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2222" cap="flat" cmpd="sng" algn="ctr">
                      <a:solidFill>
                        <a:srgbClr val="88888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43370" y="1076960"/>
          <a:ext cx="280670" cy="279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670"/>
              </a:tblGrid>
              <a:tr h="279400">
                <a:tc>
                  <a:txBody>
                    <a:bodyPr/>
                    <a:lstStyle/>
                    <a:p>
                      <a:pPr>
                        <a:lnSpc>
                          <a:spcPts val="2182"/>
                        </a:lnSpc>
                      </a:pPr>
                    </a:p>
                  </a:txBody>
                  <a:tcPr marL="0" marR="0" marT="0" marB="0" vert="horz">
                    <a:lnL w="2222" cap="flat" cmpd="sng" algn="ctr">
                      <a:solidFill>
                        <a:srgbClr val="888888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2222" cap="flat" cmpd="sng" algn="ctr">
                      <a:solidFill>
                        <a:srgbClr val="88888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1399540"/>
            <a:ext cx="331851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7" sz="1600">
                <a:solidFill>
                  <a:srgbClr val="000000"/>
                </a:solidFill>
                <a:latin typeface="Noto Serif"/>
              </a:rPr>
              <a:t>understands natural voice variations.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23440"/>
            <a:ext cx="2437129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5" sz="1600">
                <a:solidFill>
                  <a:srgbClr val="000000"/>
                </a:solidFill>
                <a:latin typeface="Noto Serif"/>
              </a:rPr>
              <a:t>5. Hardware Independence: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85390"/>
            <a:ext cx="572643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5" sz="1600">
                <a:solidFill>
                  <a:srgbClr val="000000"/>
                </a:solidFill>
                <a:latin typeface="Noto Serif"/>
              </a:rPr>
              <a:t>To ensure no external hardware is needed. Entire system works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52090"/>
            <a:ext cx="534924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6" sz="1600">
                <a:solidFill>
                  <a:srgbClr val="000000"/>
                </a:solidFill>
                <a:latin typeface="Noto Serif"/>
              </a:rPr>
              <a:t>on internal laptop mic and speaker. Also provides keyboard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8790"/>
            <a:ext cx="570484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7" sz="1600">
                <a:solidFill>
                  <a:srgbClr val="000000"/>
                </a:solidFill>
                <a:latin typeface="Noto Serif"/>
              </a:rPr>
              <a:t>fallback for devices without mic, ensuring 100% accessibility in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85490"/>
            <a:ext cx="139446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7" sz="1600">
                <a:solidFill>
                  <a:srgbClr val="000000"/>
                </a:solidFill>
                <a:latin typeface="Noto Serif"/>
              </a:rPr>
              <a:t>any college lab.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09390"/>
            <a:ext cx="174117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4" sz="1600">
                <a:solidFill>
                  <a:srgbClr val="000000"/>
                </a:solidFill>
                <a:latin typeface="Noto Serif"/>
              </a:rPr>
              <a:t>Problem Statement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33290"/>
            <a:ext cx="557657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2" sz="1600">
                <a:solidFill>
                  <a:srgbClr val="000000"/>
                </a:solidFill>
                <a:latin typeface="Noto Serif"/>
              </a:rPr>
              <a:t>Visually impaired students cannot read questions, cannot see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99990"/>
            <a:ext cx="531495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8" sz="1600">
                <a:solidFill>
                  <a:srgbClr val="000000"/>
                </a:solidFill>
                <a:latin typeface="Noto Serif"/>
              </a:rPr>
              <a:t>options, cannot use mouse. They need a human scribe. No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66690"/>
            <a:ext cx="518668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0" sz="1600">
                <a:solidFill>
                  <a:srgbClr val="000000"/>
                </a:solidFill>
                <a:latin typeface="Noto Serif"/>
              </a:rPr>
              <a:t>privacy, dependency, and lack of self-confidence. Existing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33390"/>
            <a:ext cx="494792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2" sz="1600">
                <a:solidFill>
                  <a:srgbClr val="000000"/>
                </a:solidFill>
                <a:latin typeface="Noto Serif"/>
              </a:rPr>
              <a:t>system has no voice navigation, no audio feedback, no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00090"/>
            <a:ext cx="146558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4" sz="1600">
                <a:solidFill>
                  <a:srgbClr val="000000"/>
                </a:solidFill>
                <a:latin typeface="Noto Serif"/>
              </a:rPr>
              <a:t>accessible login.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885940"/>
            <a:ext cx="147193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2" sz="1600">
                <a:solidFill>
                  <a:srgbClr val="000000"/>
                </a:solidFill>
                <a:latin typeface="Noto Serif"/>
              </a:rPr>
              <a:t> Existing System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6060" y="7247890"/>
            <a:ext cx="315976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2" sz="1600">
                <a:solidFill>
                  <a:srgbClr val="000000"/>
                </a:solidFill>
                <a:latin typeface="Noto Serif"/>
              </a:rPr>
              <a:t>Moodle, Google Forms, Black 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6060" y="7609840"/>
            <a:ext cx="216916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2" sz="1600">
                <a:solidFill>
                  <a:srgbClr val="000000"/>
                </a:solidFill>
                <a:latin typeface="Noto Serif"/>
              </a:rPr>
              <a:t>Requires reading screen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6060" y="7971790"/>
            <a:ext cx="3201669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7" sz="1600">
                <a:solidFill>
                  <a:srgbClr val="000000"/>
                </a:solidFill>
                <a:latin typeface="Noto Serif"/>
              </a:rPr>
              <a:t>Requires mouse/keyboard precision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6060" y="8333740"/>
            <a:ext cx="498094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5" sz="1600">
                <a:solidFill>
                  <a:srgbClr val="000000"/>
                </a:solidFill>
                <a:latin typeface="Noto Serif"/>
              </a:rPr>
              <a:t> Needs external scribe / screen reader (JAWS) which is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600440"/>
            <a:ext cx="52578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6" sz="1600">
                <a:solidFill>
                  <a:srgbClr val="000000"/>
                </a:solidFill>
                <a:latin typeface="Noto Serif"/>
              </a:rPr>
              <a:t>costly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6060" y="8962390"/>
            <a:ext cx="4192269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6" sz="1600">
                <a:solidFill>
                  <a:srgbClr val="000000"/>
                </a:solidFill>
                <a:latin typeface="Noto Serif"/>
              </a:rPr>
              <a:t> PDF question papers are manually typed again 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28650" y="9777730"/>
          <a:ext cx="280669" cy="2806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669"/>
              </a:tblGrid>
              <a:tr h="280670">
                <a:tc>
                  <a:txBody>
                    <a:bodyPr/>
                    <a:lstStyle/>
                    <a:p>
                      <a:pPr>
                        <a:lnSpc>
                          <a:spcPts val="2192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2539" cap="flat" cmpd="sng" algn="ctr">
                      <a:solidFill>
                        <a:srgbClr val="888888">
                          <a:alpha val="100000"/>
                        </a:srgbClr>
                      </a:solidFill>
                    </a:lnR>
                    <a:lnT w="2222" cap="flat" cmpd="sng" algn="ctr">
                      <a:solidFill>
                        <a:srgbClr val="888888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643370" y="9777730"/>
          <a:ext cx="280670" cy="2679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670"/>
              </a:tblGrid>
              <a:tr h="267970">
                <a:tc>
                  <a:txBody>
                    <a:bodyPr/>
                    <a:lstStyle/>
                    <a:p>
                      <a:pPr>
                        <a:lnSpc>
                          <a:spcPts val="2192"/>
                        </a:lnSpc>
                      </a:pPr>
                    </a:p>
                  </a:txBody>
                  <a:tcPr marL="0" marR="0" marT="0" marB="0" vert="horz">
                    <a:lnL w="2222" cap="flat" cmpd="sng" algn="ctr">
                      <a:solidFill>
                        <a:srgbClr val="888888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2222" cap="flat" cmpd="sng" algn="ctr">
                      <a:solidFill>
                        <a:srgbClr val="888888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3959" cy="1068705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28650" y="1076960"/>
          <a:ext cx="280669" cy="279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669"/>
              </a:tblGrid>
              <a:tr h="279400">
                <a:tc>
                  <a:txBody>
                    <a:bodyPr/>
                    <a:lstStyle/>
                    <a:p>
                      <a:pPr>
                        <a:lnSpc>
                          <a:spcPts val="2182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2539" cap="flat" cmpd="sng" algn="ctr">
                      <a:solidFill>
                        <a:srgbClr val="888888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2222" cap="flat" cmpd="sng" algn="ctr">
                      <a:solidFill>
                        <a:srgbClr val="88888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43370" y="1076960"/>
          <a:ext cx="280670" cy="279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670"/>
              </a:tblGrid>
              <a:tr h="279400">
                <a:tc>
                  <a:txBody>
                    <a:bodyPr/>
                    <a:lstStyle/>
                    <a:p>
                      <a:pPr>
                        <a:lnSpc>
                          <a:spcPts val="2182"/>
                        </a:lnSpc>
                      </a:pPr>
                    </a:p>
                  </a:txBody>
                  <a:tcPr marL="0" marR="0" marT="0" marB="0" vert="horz">
                    <a:lnL w="2222" cap="flat" cmpd="sng" algn="ctr">
                      <a:solidFill>
                        <a:srgbClr val="888888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2222" cap="flat" cmpd="sng" algn="ctr">
                      <a:solidFill>
                        <a:srgbClr val="88888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2139950"/>
            <a:ext cx="405511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5" sz="2000">
                <a:solidFill>
                  <a:srgbClr val="000000"/>
                </a:solidFill>
                <a:latin typeface="Noto Serif"/>
              </a:rPr>
              <a:t>Disadvantages of of Existing System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5740" y="2574290"/>
            <a:ext cx="217551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7" sz="1800">
                <a:solidFill>
                  <a:srgbClr val="000000"/>
                </a:solidFill>
                <a:latin typeface="Noto Serif"/>
              </a:rPr>
              <a:t>No voice-controllable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75740" y="2983230"/>
            <a:ext cx="232664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8" sz="1800">
                <a:solidFill>
                  <a:srgbClr val="000000"/>
                </a:solidFill>
                <a:latin typeface="Noto Serif"/>
              </a:rPr>
              <a:t>No TTS/STTintegration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6540" y="3393440"/>
            <a:ext cx="339344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0" sz="1800">
                <a:solidFill>
                  <a:srgbClr val="000000"/>
                </a:solidFill>
                <a:latin typeface="Noto Serif"/>
              </a:rPr>
              <a:t>Scribe dependency - privacy issue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75740" y="3802379"/>
            <a:ext cx="256286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8" sz="1800">
                <a:solidFill>
                  <a:srgbClr val="000000"/>
                </a:solidFill>
                <a:latin typeface="Noto Serif"/>
              </a:rPr>
              <a:t>Expensive screen readers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6540" y="4212590"/>
            <a:ext cx="3619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2" sz="1800">
                <a:solidFill>
                  <a:srgbClr val="000000"/>
                </a:solidFill>
                <a:latin typeface="Noto Serif"/>
              </a:rPr>
              <a:t>No AI automation for paper creation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7960" y="4621530"/>
            <a:ext cx="29718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3" sz="1800">
                <a:solidFill>
                  <a:srgbClr val="000000"/>
                </a:solidFill>
                <a:latin typeface="Noto Serif"/>
              </a:rPr>
              <a:t>Not usable without hardware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936490"/>
            <a:ext cx="109982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800">
                <a:solidFill>
                  <a:srgbClr val="000000"/>
                </a:solidFill>
                <a:latin typeface="Noto Serif"/>
              </a:rPr>
              <a:t>assistance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7409180"/>
            <a:ext cx="345694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8" sz="1600">
                <a:solidFill>
                  <a:srgbClr val="000000"/>
                </a:solidFill>
                <a:latin typeface="Noto Serif"/>
              </a:rPr>
              <a:t>Proposed System - What WE Are Doing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8133080"/>
            <a:ext cx="5693409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0" sz="1600">
                <a:solidFill>
                  <a:srgbClr val="000000"/>
                </a:solidFill>
                <a:latin typeface="Noto Serif"/>
              </a:rPr>
              <a:t>Admin: Uploads PDF -&gt; AI (PyMuPDF) extracts Q&amp;A -&gt; Saves to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8399780"/>
            <a:ext cx="845819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1" sz="1600">
                <a:solidFill>
                  <a:srgbClr val="000000"/>
                </a:solidFill>
                <a:latin typeface="Noto Serif"/>
              </a:rPr>
              <a:t>JSON DB.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8761730"/>
            <a:ext cx="5801359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1" sz="1600">
                <a:solidFill>
                  <a:srgbClr val="000000"/>
                </a:solidFill>
                <a:latin typeface="Noto Serif"/>
              </a:rPr>
              <a:t>Student Login: Enter Name + Reg No -&gt; Can SPEAK name, HEAR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9028430"/>
            <a:ext cx="354330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5" sz="1600">
                <a:solidFill>
                  <a:srgbClr val="000000"/>
                </a:solidFill>
                <a:latin typeface="Noto Serif"/>
              </a:rPr>
              <a:t>instructions via TTS -&gt;Say "Start Exam".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9390380"/>
            <a:ext cx="564388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1" sz="1600">
                <a:solidFill>
                  <a:srgbClr val="000000"/>
                </a:solidFill>
                <a:latin typeface="Noto Serif"/>
              </a:rPr>
              <a:t>Exam Engine: Auto speaks Q1, options -&gt; Student says "Option 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28650" y="9777730"/>
          <a:ext cx="280669" cy="2806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669"/>
              </a:tblGrid>
              <a:tr h="280670">
                <a:tc>
                  <a:txBody>
                    <a:bodyPr/>
                    <a:lstStyle/>
                    <a:p>
                      <a:pPr>
                        <a:lnSpc>
                          <a:spcPts val="2192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2539" cap="flat" cmpd="sng" algn="ctr">
                      <a:solidFill>
                        <a:srgbClr val="888888">
                          <a:alpha val="100000"/>
                        </a:srgbClr>
                      </a:solidFill>
                    </a:lnR>
                    <a:lnT w="2222" cap="flat" cmpd="sng" algn="ctr">
                      <a:solidFill>
                        <a:srgbClr val="888888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643370" y="9777730"/>
          <a:ext cx="280670" cy="2679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670"/>
              </a:tblGrid>
              <a:tr h="267970">
                <a:tc>
                  <a:txBody>
                    <a:bodyPr/>
                    <a:lstStyle/>
                    <a:p>
                      <a:pPr>
                        <a:lnSpc>
                          <a:spcPts val="2192"/>
                        </a:lnSpc>
                      </a:pPr>
                    </a:p>
                  </a:txBody>
                  <a:tcPr marL="0" marR="0" marT="0" marB="0" vert="horz">
                    <a:lnL w="2222" cap="flat" cmpd="sng" algn="ctr">
                      <a:solidFill>
                        <a:srgbClr val="888888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2222" cap="flat" cmpd="sng" algn="ctr">
                      <a:solidFill>
                        <a:srgbClr val="888888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3959" cy="1068705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28650" y="1076960"/>
          <a:ext cx="280669" cy="279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669"/>
              </a:tblGrid>
              <a:tr h="279400">
                <a:tc>
                  <a:txBody>
                    <a:bodyPr/>
                    <a:lstStyle/>
                    <a:p>
                      <a:pPr>
                        <a:lnSpc>
                          <a:spcPts val="2182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2539" cap="flat" cmpd="sng" algn="ctr">
                      <a:solidFill>
                        <a:srgbClr val="888888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2222" cap="flat" cmpd="sng" algn="ctr">
                      <a:solidFill>
                        <a:srgbClr val="88888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43370" y="1076960"/>
          <a:ext cx="280670" cy="279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670"/>
              </a:tblGrid>
              <a:tr h="279400">
                <a:tc>
                  <a:txBody>
                    <a:bodyPr/>
                    <a:lstStyle/>
                    <a:p>
                      <a:pPr>
                        <a:lnSpc>
                          <a:spcPts val="2182"/>
                        </a:lnSpc>
                      </a:pPr>
                    </a:p>
                  </a:txBody>
                  <a:tcPr marL="0" marR="0" marT="0" marB="0" vert="horz">
                    <a:lnL w="2222" cap="flat" cmpd="sng" algn="ctr">
                      <a:solidFill>
                        <a:srgbClr val="888888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2222" cap="flat" cmpd="sng" algn="ctr">
                      <a:solidFill>
                        <a:srgbClr val="88888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1399540"/>
            <a:ext cx="319151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3" sz="1600">
                <a:solidFill>
                  <a:srgbClr val="000000"/>
                </a:solidFill>
                <a:latin typeface="Noto Serif"/>
              </a:rPr>
              <a:t>A" or "Next" -&gt;TTS confirms -&gt;Auto-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8150" y="3583940"/>
            <a:ext cx="17589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48" sz="1800">
                <a:solidFill>
                  <a:srgbClr val="000000"/>
                </a:solidFill>
                <a:latin typeface="Noto Serif"/>
              </a:rPr>
              <a:t> BLOCK DIAGRAM 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4353560"/>
          <a:ext cx="6123940" cy="34670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23940"/>
              </a:tblGrid>
              <a:tr h="3467099">
                <a:tc>
                  <a:txBody>
                    <a:bodyPr/>
                    <a:lstStyle/>
                    <a:p>
                      <a:pPr>
                        <a:lnSpc>
                          <a:spcPts val="27199"/>
                        </a:lnSpc>
                      </a:p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fffff">
                          <a:alpha val="100000"/>
                        </a:srgbClr>
                      </a:solidFill>
                    </a:lnL>
                    <a:lnR w="6350" cap="flat" cmpd="sng" algn="ctr">
                      <a:solidFill>
                        <a:srgbClr val="ffffff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ffffff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ffffff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8374380"/>
            <a:ext cx="1206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7" sz="1800">
                <a:solidFill>
                  <a:srgbClr val="000000"/>
                </a:solidFill>
                <a:latin typeface="Noto Serif"/>
              </a:rPr>
              <a:t>Advantages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7960" y="8771890"/>
            <a:ext cx="221869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8" sz="1600">
                <a:solidFill>
                  <a:srgbClr val="000000"/>
                </a:solidFill>
                <a:latin typeface="Noto Serif"/>
              </a:rPr>
              <a:t>100% Voice Controlled 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57960" y="9133840"/>
            <a:ext cx="154813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1" sz="1600">
                <a:solidFill>
                  <a:srgbClr val="000000"/>
                </a:solidFill>
                <a:latin typeface="Noto Serif"/>
              </a:rPr>
              <a:t>No scribe needed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7960" y="9495790"/>
            <a:ext cx="3992879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5" sz="1600">
                <a:solidFill>
                  <a:srgbClr val="000000"/>
                </a:solidFill>
                <a:latin typeface="Noto Serif"/>
              </a:rPr>
              <a:t>Privacy and Independence for blind students 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8650" y="9777730"/>
          <a:ext cx="280669" cy="2806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669"/>
              </a:tblGrid>
              <a:tr h="280670">
                <a:tc>
                  <a:txBody>
                    <a:bodyPr/>
                    <a:lstStyle/>
                    <a:p>
                      <a:pPr>
                        <a:lnSpc>
                          <a:spcPts val="2192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2539" cap="flat" cmpd="sng" algn="ctr">
                      <a:solidFill>
                        <a:srgbClr val="888888">
                          <a:alpha val="100000"/>
                        </a:srgbClr>
                      </a:solidFill>
                    </a:lnR>
                    <a:lnT w="2222" cap="flat" cmpd="sng" algn="ctr">
                      <a:solidFill>
                        <a:srgbClr val="888888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643370" y="9777730"/>
          <a:ext cx="280670" cy="2679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670"/>
              </a:tblGrid>
              <a:tr h="267970">
                <a:tc>
                  <a:txBody>
                    <a:bodyPr/>
                    <a:lstStyle/>
                    <a:p>
                      <a:pPr>
                        <a:lnSpc>
                          <a:spcPts val="2192"/>
                        </a:lnSpc>
                      </a:pPr>
                    </a:p>
                  </a:txBody>
                  <a:tcPr marL="0" marR="0" marT="0" marB="0" vert="horz">
                    <a:lnL w="2222" cap="flat" cmpd="sng" algn="ctr">
                      <a:solidFill>
                        <a:srgbClr val="888888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2222" cap="flat" cmpd="sng" algn="ctr">
                      <a:solidFill>
                        <a:srgbClr val="888888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349750"/>
            <a:ext cx="6127750" cy="3473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53560"/>
            <a:ext cx="6123940" cy="3467099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53560"/>
            <a:ext cx="6123940" cy="3467099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349750"/>
            <a:ext cx="6127750" cy="3473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3959" cy="1068705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28650" y="1076960"/>
          <a:ext cx="280669" cy="279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669"/>
              </a:tblGrid>
              <a:tr h="279400">
                <a:tc>
                  <a:txBody>
                    <a:bodyPr/>
                    <a:lstStyle/>
                    <a:p>
                      <a:pPr>
                        <a:lnSpc>
                          <a:spcPts val="2182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2539" cap="flat" cmpd="sng" algn="ctr">
                      <a:solidFill>
                        <a:srgbClr val="888888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2222" cap="flat" cmpd="sng" algn="ctr">
                      <a:solidFill>
                        <a:srgbClr val="88888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43370" y="1076960"/>
          <a:ext cx="280670" cy="279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670"/>
              </a:tblGrid>
              <a:tr h="279400">
                <a:tc>
                  <a:txBody>
                    <a:bodyPr/>
                    <a:lstStyle/>
                    <a:p>
                      <a:pPr>
                        <a:lnSpc>
                          <a:spcPts val="2182"/>
                        </a:lnSpc>
                      </a:pPr>
                    </a:p>
                  </a:txBody>
                  <a:tcPr marL="0" marR="0" marT="0" marB="0" vert="horz">
                    <a:lnL w="2222" cap="flat" cmpd="sng" algn="ctr">
                      <a:solidFill>
                        <a:srgbClr val="888888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2222" cap="flat" cmpd="sng" algn="ctr">
                      <a:solidFill>
                        <a:srgbClr val="88888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457960" y="1399540"/>
            <a:ext cx="336931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4" sz="1600">
                <a:solidFill>
                  <a:srgbClr val="000000"/>
                </a:solidFill>
                <a:latin typeface="Noto Serif"/>
              </a:rPr>
              <a:t>AI PDF parsing saves 90% admin time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57960" y="1761489"/>
            <a:ext cx="487807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4" sz="1600">
                <a:solidFill>
                  <a:srgbClr val="000000"/>
                </a:solidFill>
                <a:latin typeface="Noto Serif"/>
              </a:rPr>
              <a:t>Dual Mode: Voice + Keyboard fallback - works without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28189"/>
            <a:ext cx="74168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4" sz="1600">
                <a:solidFill>
                  <a:srgbClr val="000000"/>
                </a:solidFill>
                <a:latin typeface="Noto Serif"/>
              </a:rPr>
              <a:t>mic also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57960" y="2390140"/>
            <a:ext cx="503936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8" sz="1600">
                <a:solidFill>
                  <a:srgbClr val="000000"/>
                </a:solidFill>
                <a:latin typeface="Noto Serif"/>
              </a:rPr>
              <a:t>No external hardware - uses internal laptop mic/speaker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7960" y="2752090"/>
            <a:ext cx="530606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8" sz="1600">
                <a:solidFill>
                  <a:srgbClr val="000000"/>
                </a:solidFill>
                <a:latin typeface="Noto Serif"/>
              </a:rPr>
              <a:t>Low cost - Uses Web Speech API (free) not paid JAWSNLP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018790"/>
            <a:ext cx="209677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9" sz="1600">
                <a:solidFill>
                  <a:srgbClr val="000000"/>
                </a:solidFill>
                <a:latin typeface="Noto Serif"/>
              </a:rPr>
              <a:t>based smart navigation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5740" y="3393440"/>
            <a:ext cx="363347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5" sz="1800">
                <a:solidFill>
                  <a:srgbClr val="000000"/>
                </a:solidFill>
                <a:latin typeface="Noto Serif"/>
              </a:rPr>
              <a:t>Software &amp; Hardware Requirements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8750" y="4231640"/>
            <a:ext cx="910589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0" sz="1800">
                <a:solidFill>
                  <a:srgbClr val="000000"/>
                </a:solidFill>
                <a:latin typeface="Noto Serif"/>
              </a:rPr>
              <a:t>Software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5740" y="4650740"/>
            <a:ext cx="508889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2" sz="1800">
                <a:solidFill>
                  <a:srgbClr val="000000"/>
                </a:solidFill>
                <a:latin typeface="Noto Serif"/>
              </a:rPr>
              <a:t>Frontend: ReactJS, React-Router, Web Speech API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964430"/>
            <a:ext cx="402209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8" sz="1800">
                <a:solidFill>
                  <a:srgbClr val="000000"/>
                </a:solidFill>
                <a:latin typeface="Noto Serif"/>
              </a:rPr>
              <a:t>(Speech Recognition, Speech Synthesis)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5740" y="5374640"/>
            <a:ext cx="50736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0" sz="1800">
                <a:solidFill>
                  <a:srgbClr val="000000"/>
                </a:solidFill>
                <a:latin typeface="Noto Serif"/>
              </a:rPr>
              <a:t>Backend: Python Fast API, PyMuPDF (fitz), Uvicorn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75740" y="5783580"/>
            <a:ext cx="505841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6" sz="1800">
                <a:solidFill>
                  <a:srgbClr val="000000"/>
                </a:solidFill>
                <a:latin typeface="Noto Serif"/>
              </a:rPr>
              <a:t>Database: JSON / Local Storage (can be upgraded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6098540"/>
            <a:ext cx="214884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2" sz="1800">
                <a:solidFill>
                  <a:srgbClr val="000000"/>
                </a:solidFill>
                <a:latin typeface="Noto Serif"/>
              </a:rPr>
              <a:t>to MongoDB)Browser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75740" y="6507480"/>
            <a:ext cx="371348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2" sz="1800">
                <a:solidFill>
                  <a:srgbClr val="000000"/>
                </a:solidFill>
                <a:latin typeface="Noto Serif"/>
              </a:rPr>
              <a:t>Google Chrome (best for Speech API)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75740" y="6917690"/>
            <a:ext cx="122428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9" sz="1800">
                <a:solidFill>
                  <a:srgbClr val="000000"/>
                </a:solidFill>
                <a:latin typeface="Noto Serif"/>
              </a:rPr>
              <a:t>IDE: VSCode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7736840"/>
            <a:ext cx="98298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67" sz="1800">
                <a:solidFill>
                  <a:srgbClr val="000000"/>
                </a:solidFill>
                <a:latin typeface="Noto Serif"/>
              </a:rPr>
              <a:t>Hardware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75740" y="8145780"/>
            <a:ext cx="483489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3" sz="1800">
                <a:solidFill>
                  <a:srgbClr val="000000"/>
                </a:solidFill>
                <a:latin typeface="Noto Serif"/>
              </a:rPr>
              <a:t>Minimum: Any Laptop/PC with internal mic and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8460740"/>
            <a:ext cx="349631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0" sz="1800">
                <a:solidFill>
                  <a:srgbClr val="000000"/>
                </a:solidFill>
                <a:latin typeface="Noto Serif"/>
              </a:rPr>
              <a:t>speaker (No external mic required)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75740" y="8869680"/>
            <a:ext cx="405638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8" sz="1800">
                <a:solidFill>
                  <a:srgbClr val="000000"/>
                </a:solidFill>
                <a:latin typeface="Noto Serif"/>
              </a:rPr>
              <a:t> Recommended: 4GB RAM, i3 Processor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28650" y="9777730"/>
          <a:ext cx="280669" cy="2806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669"/>
              </a:tblGrid>
              <a:tr h="280670">
                <a:tc>
                  <a:txBody>
                    <a:bodyPr/>
                    <a:lstStyle/>
                    <a:p>
                      <a:pPr>
                        <a:lnSpc>
                          <a:spcPts val="2192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2539" cap="flat" cmpd="sng" algn="ctr">
                      <a:solidFill>
                        <a:srgbClr val="888888">
                          <a:alpha val="100000"/>
                        </a:srgbClr>
                      </a:solidFill>
                    </a:lnR>
                    <a:lnT w="2222" cap="flat" cmpd="sng" algn="ctr">
                      <a:solidFill>
                        <a:srgbClr val="888888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643370" y="9777730"/>
          <a:ext cx="280670" cy="2679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670"/>
              </a:tblGrid>
              <a:tr h="267970">
                <a:tc>
                  <a:txBody>
                    <a:bodyPr/>
                    <a:lstStyle/>
                    <a:p>
                      <a:pPr>
                        <a:lnSpc>
                          <a:spcPts val="2192"/>
                        </a:lnSpc>
                      </a:pPr>
                    </a:p>
                  </a:txBody>
                  <a:tcPr marL="0" marR="0" marT="0" marB="0" vert="horz">
                    <a:lnL w="2222" cap="flat" cmpd="sng" algn="ctr">
                      <a:solidFill>
                        <a:srgbClr val="888888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2222" cap="flat" cmpd="sng" algn="ctr">
                      <a:solidFill>
                        <a:srgbClr val="888888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3959" cy="1068705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28650" y="1076960"/>
          <a:ext cx="280669" cy="279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669"/>
              </a:tblGrid>
              <a:tr h="279400">
                <a:tc>
                  <a:txBody>
                    <a:bodyPr/>
                    <a:lstStyle/>
                    <a:p>
                      <a:pPr>
                        <a:lnSpc>
                          <a:spcPts val="2182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2539" cap="flat" cmpd="sng" algn="ctr">
                      <a:solidFill>
                        <a:srgbClr val="888888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2222" cap="flat" cmpd="sng" algn="ctr">
                      <a:solidFill>
                        <a:srgbClr val="88888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43370" y="1076960"/>
          <a:ext cx="280670" cy="279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670"/>
              </a:tblGrid>
              <a:tr h="279400">
                <a:tc>
                  <a:txBody>
                    <a:bodyPr/>
                    <a:lstStyle/>
                    <a:p>
                      <a:pPr>
                        <a:lnSpc>
                          <a:spcPts val="2182"/>
                        </a:lnSpc>
                      </a:pPr>
                    </a:p>
                  </a:txBody>
                  <a:tcPr marL="0" marR="0" marT="0" marB="0" vert="horz">
                    <a:lnL w="2222" cap="flat" cmpd="sng" algn="ctr">
                      <a:solidFill>
                        <a:srgbClr val="888888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2222" cap="flat" cmpd="sng" algn="ctr">
                      <a:solidFill>
                        <a:srgbClr val="88888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1416050"/>
            <a:ext cx="126746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8" sz="2000">
                <a:solidFill>
                  <a:srgbClr val="000000"/>
                </a:solidFill>
                <a:latin typeface="Noto Serif"/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5740" y="1850389"/>
            <a:ext cx="286639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6" sz="1800">
                <a:solidFill>
                  <a:srgbClr val="000000"/>
                </a:solidFill>
                <a:latin typeface="Noto Serif"/>
              </a:rPr>
              <a:t>Web Speech API - MDN Docs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75740" y="2259330"/>
            <a:ext cx="25844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2" sz="1800">
                <a:solidFill>
                  <a:srgbClr val="000000"/>
                </a:solidFill>
                <a:latin typeface="Noto Serif"/>
              </a:rPr>
              <a:t>PyMuPDF Documentation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75740" y="2669540"/>
            <a:ext cx="237744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2" sz="1800">
                <a:solidFill>
                  <a:srgbClr val="000000"/>
                </a:solidFill>
                <a:latin typeface="Noto Serif"/>
              </a:rPr>
              <a:t>FastAPI Documentation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75740" y="3078480"/>
            <a:ext cx="4022090" cy="2285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6" sz="1800">
                <a:solidFill>
                  <a:srgbClr val="000000"/>
                </a:solidFill>
                <a:latin typeface="Noto Serif"/>
              </a:rPr>
              <a:t>WHO Report on Vision Impairment 2023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75740" y="3488690"/>
            <a:ext cx="5080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0" sz="1800">
                <a:solidFill>
                  <a:srgbClr val="000000"/>
                </a:solidFill>
                <a:latin typeface="Noto Serif"/>
              </a:rPr>
              <a:t>Research Paper: Accessible e-learning for visually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802379"/>
            <a:ext cx="209042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1" sz="1800">
                <a:solidFill>
                  <a:srgbClr val="000000"/>
                </a:solidFill>
                <a:latin typeface="Noto Serif"/>
              </a:rPr>
              <a:t>impaired - IEEE 2022 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8650" y="9777730"/>
          <a:ext cx="280669" cy="2806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669"/>
              </a:tblGrid>
              <a:tr h="280670">
                <a:tc>
                  <a:txBody>
                    <a:bodyPr/>
                    <a:lstStyle/>
                    <a:p>
                      <a:pPr>
                        <a:lnSpc>
                          <a:spcPts val="2192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2539" cap="flat" cmpd="sng" algn="ctr">
                      <a:solidFill>
                        <a:srgbClr val="888888">
                          <a:alpha val="100000"/>
                        </a:srgbClr>
                      </a:solidFill>
                    </a:lnR>
                    <a:lnT w="2222" cap="flat" cmpd="sng" algn="ctr">
                      <a:solidFill>
                        <a:srgbClr val="888888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643370" y="9777730"/>
          <a:ext cx="280670" cy="2679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670"/>
              </a:tblGrid>
              <a:tr h="267970">
                <a:tc>
                  <a:txBody>
                    <a:bodyPr/>
                    <a:lstStyle/>
                    <a:p>
                      <a:pPr>
                        <a:lnSpc>
                          <a:spcPts val="2192"/>
                        </a:lnSpc>
                      </a:pPr>
                    </a:p>
                  </a:txBody>
                  <a:tcPr marL="0" marR="0" marT="0" marB="0" vert="horz">
                    <a:lnL w="2222" cap="flat" cmpd="sng" algn="ctr">
                      <a:solidFill>
                        <a:srgbClr val="888888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2222" cap="flat" cmpd="sng" algn="ctr">
                      <a:solidFill>
                        <a:srgbClr val="888888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